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Green API Workshop — Règles &amp; Mesures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API Green Score • Spring Boot • 50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DE11 — Pagination disponible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Symptôme : List endpoints renvoient des milliers d'éléments</a:t>
            </a:r>
          </a:p>
          <a:p>
            <a:pPr>
              <a:defRPr sz="1600"/>
            </a:pPr>
            <a:r>
              <a:t>Action live‑coding : Ajouter page/size ; valider size ≤ 100</a:t>
            </a:r>
          </a:p>
          <a:p>
            <a:pPr>
              <a:defRPr b="1" sz="1600"/>
            </a:pPr>
            <a:r>
              <a:t>Mesure (avant → après) :</a:t>
            </a:r>
          </a:p>
          <a:p>
            <a:pPr>
              <a:defRPr sz="1400"/>
            </a:pPr>
            <a:r>
              <a:t>• Avant : size=____ bytes, time=____ s</a:t>
            </a:r>
          </a:p>
          <a:p>
            <a:pPr>
              <a:defRPr sz="1400"/>
            </a:pPr>
            <a:r>
              <a:t>• Après : size=____ bytes, time=____ s</a:t>
            </a:r>
          </a:p>
          <a:p>
            <a:pPr>
              <a:defRPr sz="1400"/>
            </a:pPr>
            <a:r>
              <a:t>• Gain attendu : ~____ %</a:t>
            </a:r>
          </a:p>
          <a:p>
            <a:pPr>
              <a:defRPr b="1" sz="1600"/>
            </a:pPr>
            <a:r>
              <a:t>Commandes :</a:t>
            </a:r>
          </a:p>
          <a:p>
            <a:pPr>
              <a:defRPr sz="1200"/>
            </a:pPr>
            <a:r>
              <a:t>curl -s -w 'size=%{size_download} time=%{time_total}\n' -o /dev/null http://localhost:8081/books?page=0&amp;size=20</a:t>
            </a:r>
          </a:p>
          <a:p>
            <a:pPr>
              <a:defRPr sz="1200"/>
            </a:pPr>
            <a:r>
              <a:t>Notes : Limiter les offsets profonds → keyset en bonus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DE08 — Filtrage pour limiter le payload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Symptôme : Clients reçoivent des champs inutiles (summary, …)</a:t>
            </a:r>
          </a:p>
          <a:p>
            <a:pPr>
              <a:defRPr sz="1600"/>
            </a:pPr>
            <a:r>
              <a:t>Action live‑coding : Paramètre fields=id,title,author (whitelist)</a:t>
            </a:r>
          </a:p>
          <a:p>
            <a:pPr>
              <a:defRPr b="1" sz="1600"/>
            </a:pPr>
            <a:r>
              <a:t>Mesure (avant → après) :</a:t>
            </a:r>
          </a:p>
          <a:p>
            <a:pPr>
              <a:defRPr sz="1400"/>
            </a:pPr>
            <a:r>
              <a:t>• Avant : size=____ bytes, time=____ s</a:t>
            </a:r>
          </a:p>
          <a:p>
            <a:pPr>
              <a:defRPr sz="1400"/>
            </a:pPr>
            <a:r>
              <a:t>• Après : size=____ bytes, time=____ s</a:t>
            </a:r>
          </a:p>
          <a:p>
            <a:pPr>
              <a:defRPr sz="1400"/>
            </a:pPr>
            <a:r>
              <a:t>• Gain attendu : ~____ %</a:t>
            </a:r>
          </a:p>
          <a:p>
            <a:pPr>
              <a:defRPr b="1" sz="1600"/>
            </a:pPr>
            <a:r>
              <a:t>Commandes :</a:t>
            </a:r>
          </a:p>
          <a:p>
            <a:pPr>
              <a:defRPr sz="1200"/>
            </a:pPr>
            <a:r>
              <a:t>curl -s -w 'size=%{size_download}\n' -o /dev/null 'http://localhost:8081/books/select?fields=id,title,author&amp;page=0&amp;size=50'</a:t>
            </a:r>
          </a:p>
          <a:p>
            <a:pPr>
              <a:defRPr sz="1200"/>
            </a:pPr>
            <a:r>
              <a:t>Notes : Par défaut, ne pas renvoyer les champs coûteux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DE01/USXX — Format léger +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Symptôme : Réponses non compressées, trafic élevé</a:t>
            </a:r>
          </a:p>
          <a:p>
            <a:pPr>
              <a:defRPr sz="1600"/>
            </a:pPr>
            <a:r>
              <a:t>Action live‑coding : Activer gzip côté serveur (min-response-size)</a:t>
            </a:r>
          </a:p>
          <a:p>
            <a:pPr>
              <a:defRPr b="1" sz="1600"/>
            </a:pPr>
            <a:r>
              <a:t>Mesure (avant → après) :</a:t>
            </a:r>
          </a:p>
          <a:p>
            <a:pPr>
              <a:defRPr sz="1400"/>
            </a:pPr>
            <a:r>
              <a:t>• Avant : size=____ bytes, time=____ s</a:t>
            </a:r>
          </a:p>
          <a:p>
            <a:pPr>
              <a:defRPr sz="1400"/>
            </a:pPr>
            <a:r>
              <a:t>• Après : size=____ bytes, time=____ s</a:t>
            </a:r>
          </a:p>
          <a:p>
            <a:pPr>
              <a:defRPr sz="1400"/>
            </a:pPr>
            <a:r>
              <a:t>• Gain attendu : ~____ %</a:t>
            </a:r>
          </a:p>
          <a:p>
            <a:pPr>
              <a:defRPr b="1" sz="1600"/>
            </a:pPr>
            <a:r>
              <a:t>Commandes :</a:t>
            </a:r>
          </a:p>
          <a:p>
            <a:pPr>
              <a:defRPr sz="1200"/>
            </a:pPr>
            <a:r>
              <a:t>curl -s -H 'Accept-Encoding: gzip' -w 'size=%{size_download}\n' -o /dev/null 'http://localhost:8081/books/select?fields=id,title,author&amp;page=0&amp;size=200'</a:t>
            </a:r>
          </a:p>
          <a:p>
            <a:pPr>
              <a:defRPr sz="1200"/>
            </a:pPr>
            <a:r>
              <a:t>Notes : Mesurer le point d’équilibre CPU/IO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DE02/DE03 — Cache HTTP : ETag + Cache-Control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Symptôme : Rafraîchissements complets à chaque appel</a:t>
            </a:r>
          </a:p>
          <a:p>
            <a:pPr>
              <a:defRPr sz="1600"/>
            </a:pPr>
            <a:r>
              <a:t>Action live‑coding : Ajouter ShallowEtagHeaderFilter + Cache-Control</a:t>
            </a:r>
          </a:p>
          <a:p>
            <a:pPr>
              <a:defRPr b="1" sz="1600"/>
            </a:pPr>
            <a:r>
              <a:t>Mesure (avant → après) :</a:t>
            </a:r>
          </a:p>
          <a:p>
            <a:pPr>
              <a:defRPr sz="1400"/>
            </a:pPr>
            <a:r>
              <a:t>• Avant : size=____ bytes, time=____ s</a:t>
            </a:r>
          </a:p>
          <a:p>
            <a:pPr>
              <a:defRPr sz="1400"/>
            </a:pPr>
            <a:r>
              <a:t>• Après : size=____ bytes, time=____ s</a:t>
            </a:r>
          </a:p>
          <a:p>
            <a:pPr>
              <a:defRPr sz="1400"/>
            </a:pPr>
            <a:r>
              <a:t>• Gain attendu : ~____ %</a:t>
            </a:r>
          </a:p>
          <a:p>
            <a:pPr>
              <a:defRPr b="1" sz="1600"/>
            </a:pPr>
            <a:r>
              <a:t>Commandes :</a:t>
            </a:r>
          </a:p>
          <a:p>
            <a:pPr>
              <a:defRPr sz="1200"/>
            </a:pPr>
            <a:r>
              <a:t>curl -sI 'http://localhost:8081/books/select?fields=id,title,author&amp;page=0&amp;size=20' | grep ETag</a:t>
            </a:r>
          </a:p>
          <a:p>
            <a:pPr>
              <a:defRPr sz="1200"/>
            </a:pPr>
            <a:r>
              <a:t>curl -s -o /dev/null -w 'code=%{http_code}\n' -H 'If-None-Match: "&lt;ETAG&gt;"' 'http://localhost:8081/books/select?fields=id,title,author&amp;page=0&amp;size=20'</a:t>
            </a:r>
          </a:p>
          <a:p>
            <a:pPr>
              <a:defRPr sz="1200"/>
            </a:pPr>
            <a:r>
              <a:t>Notes : Objectif : maximiser la part de 304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DE06/US04 — Delta depuis un point de fraîcheur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Symptôme : Polling complet de la liste</a:t>
            </a:r>
          </a:p>
          <a:p>
            <a:pPr>
              <a:defRPr sz="1600"/>
            </a:pPr>
            <a:r>
              <a:t>Action live‑coding : Exposer GET /books/changes?since=…</a:t>
            </a:r>
          </a:p>
          <a:p>
            <a:pPr>
              <a:defRPr b="1" sz="1600"/>
            </a:pPr>
            <a:r>
              <a:t>Mesure (avant → après) :</a:t>
            </a:r>
          </a:p>
          <a:p>
            <a:pPr>
              <a:defRPr sz="1400"/>
            </a:pPr>
            <a:r>
              <a:t>• Avant : size=____ bytes, time=____ s</a:t>
            </a:r>
          </a:p>
          <a:p>
            <a:pPr>
              <a:defRPr sz="1400"/>
            </a:pPr>
            <a:r>
              <a:t>• Après : size=____ bytes, time=____ s</a:t>
            </a:r>
          </a:p>
          <a:p>
            <a:pPr>
              <a:defRPr sz="1400"/>
            </a:pPr>
            <a:r>
              <a:t>• Gain attendu : ~____ %</a:t>
            </a:r>
          </a:p>
          <a:p>
            <a:pPr>
              <a:defRPr b="1" sz="1600"/>
            </a:pPr>
            <a:r>
              <a:t>Commandes :</a:t>
            </a:r>
          </a:p>
          <a:p>
            <a:pPr>
              <a:defRPr sz="1200"/>
            </a:pPr>
            <a:r>
              <a:t>curl -s -w 'size=%{size_download}\n' -o /dev/null 'http://localhost:8081/books/changes?since=2025-09-18T08:00:00Z'</a:t>
            </a:r>
          </a:p>
          <a:p>
            <a:pPr>
              <a:defRPr sz="1200"/>
            </a:pPr>
            <a:r>
              <a:t>Notes : Aligner la stratégie sur le modèle de données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206 Partial Content — Transferts partiels (Range)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Symptôme : Téléchargements complets de ressources longues</a:t>
            </a:r>
          </a:p>
          <a:p>
            <a:pPr>
              <a:defRPr sz="1600"/>
            </a:pPr>
            <a:r>
              <a:t>Action live‑coding : Supporter Range: bytes=… sur /books/{id}/summary</a:t>
            </a:r>
          </a:p>
          <a:p>
            <a:pPr>
              <a:defRPr b="1" sz="1600"/>
            </a:pPr>
            <a:r>
              <a:t>Mesure (avant → après) :</a:t>
            </a:r>
          </a:p>
          <a:p>
            <a:pPr>
              <a:defRPr sz="1400"/>
            </a:pPr>
            <a:r>
              <a:t>• Avant : size=____ bytes, time=____ s</a:t>
            </a:r>
          </a:p>
          <a:p>
            <a:pPr>
              <a:defRPr sz="1400"/>
            </a:pPr>
            <a:r>
              <a:t>• Après : size=____ bytes, time=____ s</a:t>
            </a:r>
          </a:p>
          <a:p>
            <a:pPr>
              <a:defRPr sz="1400"/>
            </a:pPr>
            <a:r>
              <a:t>• Gain attendu : ~____ %</a:t>
            </a:r>
          </a:p>
          <a:p>
            <a:pPr>
              <a:defRPr b="1" sz="1600"/>
            </a:pPr>
            <a:r>
              <a:t>Commandes :</a:t>
            </a:r>
          </a:p>
          <a:p>
            <a:pPr>
              <a:defRPr sz="1200"/>
            </a:pPr>
            <a:r>
              <a:t>curl -s -i -H 'Range: bytes=0-199' http://localhost:8081/books/1/summary | head</a:t>
            </a:r>
          </a:p>
          <a:p>
            <a:pPr>
              <a:defRPr sz="1200"/>
            </a:pPr>
            <a:r>
              <a:t>Notes : Pratique pour blobs, PDF, gros champs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US01 — GET params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Symptôme : Endpoints redondants (ex: /getBooks)</a:t>
            </a:r>
          </a:p>
          <a:p>
            <a:pPr>
              <a:defRPr sz="1600"/>
            </a:pPr>
            <a:r>
              <a:t>Action live‑coding : Standardiser les paramètres page, size, fields</a:t>
            </a:r>
          </a:p>
          <a:p>
            <a:pPr>
              <a:defRPr b="1" sz="1600"/>
            </a:pPr>
            <a:r>
              <a:t>Mesure (avant → après) :</a:t>
            </a:r>
          </a:p>
          <a:p>
            <a:pPr>
              <a:defRPr sz="1400"/>
            </a:pPr>
            <a:r>
              <a:t>• Avant : size=____ bytes, time=____ s</a:t>
            </a:r>
          </a:p>
          <a:p>
            <a:pPr>
              <a:defRPr sz="1400"/>
            </a:pPr>
            <a:r>
              <a:t>• Après : size=____ bytes, time=____ s</a:t>
            </a:r>
          </a:p>
          <a:p>
            <a:pPr>
              <a:defRPr sz="1400"/>
            </a:pPr>
            <a:r>
              <a:t>• Gain attendu : ~____ %</a:t>
            </a:r>
          </a:p>
          <a:p>
            <a:pPr>
              <a:defRPr b="1" sz="1600"/>
            </a:pPr>
            <a:r>
              <a:t>Commandes :</a:t>
            </a:r>
          </a:p>
          <a:p>
            <a:pPr>
              <a:defRPr sz="1200"/>
            </a:pPr>
            <a:r>
              <a:t>curl -s -o /dev/null 'http://localhost:8081/books/select?fields=id,title,author&amp;page=0&amp;size=20' -w 'code=%{http_code}\n'</a:t>
            </a:r>
          </a:p>
          <a:p>
            <a:pPr>
              <a:defRPr sz="1200"/>
            </a:pPr>
            <a:r>
              <a:t>Notes : Simplicité côté clients et caching CDN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AR02 — Efficacité perçue / proximité logique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Symptôme : Multiples allers-retours client pour agréger</a:t>
            </a:r>
          </a:p>
          <a:p>
            <a:pPr>
              <a:defRPr sz="1600"/>
            </a:pPr>
            <a:r>
              <a:t>Action live‑coding : Batch GET /books/batch?ids=… ; keyset pagination</a:t>
            </a:r>
          </a:p>
          <a:p>
            <a:pPr>
              <a:defRPr b="1" sz="1600"/>
            </a:pPr>
            <a:r>
              <a:t>Mesure (avant → après) :</a:t>
            </a:r>
          </a:p>
          <a:p>
            <a:pPr>
              <a:defRPr sz="1400"/>
            </a:pPr>
            <a:r>
              <a:t>• Avant : size=____ bytes, time=____ s</a:t>
            </a:r>
          </a:p>
          <a:p>
            <a:pPr>
              <a:defRPr sz="1400"/>
            </a:pPr>
            <a:r>
              <a:t>• Après : size=____ bytes, time=____ s</a:t>
            </a:r>
          </a:p>
          <a:p>
            <a:pPr>
              <a:defRPr sz="1400"/>
            </a:pPr>
            <a:r>
              <a:t>• Gain attendu : ~____ %</a:t>
            </a:r>
          </a:p>
          <a:p>
            <a:pPr>
              <a:defRPr b="1" sz="1600"/>
            </a:pPr>
            <a:r>
              <a:t>Commandes :</a:t>
            </a:r>
          </a:p>
          <a:p>
            <a:pPr>
              <a:defRPr sz="1200"/>
            </a:pPr>
            <a:r>
              <a:t>curl -s -o /dev/null 'http://localhost:8081/books/after?afterId=100&amp;size=20' -w 'size=%{size_download}\n'</a:t>
            </a:r>
          </a:p>
          <a:p>
            <a:pPr>
              <a:defRPr sz="1200"/>
            </a:pPr>
            <a:r>
              <a:t>Notes : Réduire RRT, favoriser E2E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LO01/US07 — Observabilité utile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Symptôme : Pas de visibilité sur bytes/time, taux d’erreurs</a:t>
            </a:r>
          </a:p>
          <a:p>
            <a:pPr>
              <a:defRPr sz="1600"/>
            </a:pPr>
            <a:r>
              <a:t>Action live‑coding : Ajouter PayloadLoggingFilter + Actuator</a:t>
            </a:r>
          </a:p>
          <a:p>
            <a:pPr>
              <a:defRPr b="1" sz="1600"/>
            </a:pPr>
            <a:r>
              <a:t>Mesure (avant → après) :</a:t>
            </a:r>
          </a:p>
          <a:p>
            <a:pPr>
              <a:defRPr sz="1400"/>
            </a:pPr>
            <a:r>
              <a:t>• Avant : size=____ bytes, time=____ s</a:t>
            </a:r>
          </a:p>
          <a:p>
            <a:pPr>
              <a:defRPr sz="1400"/>
            </a:pPr>
            <a:r>
              <a:t>• Après : size=____ bytes, time=____ s</a:t>
            </a:r>
          </a:p>
          <a:p>
            <a:pPr>
              <a:defRPr sz="1400"/>
            </a:pPr>
            <a:r>
              <a:t>• Gain attendu : ~____ %</a:t>
            </a:r>
          </a:p>
          <a:p>
            <a:pPr>
              <a:defRPr b="1" sz="1600"/>
            </a:pPr>
            <a:r>
              <a:t>Commandes :</a:t>
            </a:r>
          </a:p>
          <a:p>
            <a:pPr>
              <a:defRPr sz="1200"/>
            </a:pPr>
            <a:r>
              <a:t>journaliser bytes=… timeMs=… ; /actuator/metrics</a:t>
            </a:r>
          </a:p>
          <a:p>
            <a:pPr>
              <a:defRPr sz="1200"/>
            </a:pPr>
            <a:r>
              <a:t>Notes : Définir une rétention conforme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